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'Ember is trust-minimized crowdfunding — funds release as creators deliver, not before.' This is v3 of the deck, reframed around our move to Stellar. The product is already built and feature-complete on an EVM testnet today; this deck makes the case for why Stellar is the right home and how we drive real, measurable impact for the ecosystem. Set the tone: a working product with a clear ecosystem thesis and a concrete go-to-market, not a whitepaper. Everything technical in this deck traces back to the research report saved as issue #179.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pain: on Web2 crowdfunding, money moves to the creator on day one and trust is just a promise. When delivery fails, the backer has no leverage — only a support ticket. Emphasize that this failure is worst exactly where accountable capital matters most: emerging markets and small creators. Keep it short — the audience already feels this. The point of this slide is to set up that the fix is structural, not customer-service.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'why us, why now, why this region' slide. The Philippines is a global leader in crypto adoption with $30B+ in annual remittances and a population already fluent in moving stablecoins — but SMEs and creators are locked out of formal capital and escrow. Land the punchline in the red card: the onchain infrastructure exists; what's missing is a product that delivers it to everyday users, on a chain purpose-built for stablecoin payments. That chain is Stellar — which is the natural segue into the solution and the ecosystem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Breath slide. Say the one-sentence definition out loud and pause: 'Ember is onchain crowdfunding where funds release as creators deliver — not before.' Then move into the mechanics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pillars. Trust-first: it's non-custodial — Ember never has a key that can move backer funds; the contract does. Algorithmic: code releases funds on a weighted vote, no human discretion. Stablecoin-native: note the deliberate shift here — we now say USDC on Stellar, not USDT on Morph. That is the core of v3: USDC is Stellar's natively-supported settlement stablecoin, with sub-cent fees and ~5-second finality. If asked why we changed the asset, the short answer is on issue #179 — USDC is the dominant, native Stellar stablecoin.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as one continuous flow. Emphasize step 4: money only ever leaves escrow for a milestone backers approved. Call out the keeper: it's permissionless, so resolution and payout can't be censored or stalled by us or the creator. On Stellar this maps cleanly — the escrow becomes a Soroban contract, the position NFT uses the SEP-50 standard, and the keeper role can even be simplified. Note the function names shown are our current contract API; the Soroban port keeps the same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De-risk the bet. The product is not a concept — it's feature-complete against our full spec: the entire create→back→vote→release loop, dashboards, admin, indexer, keeper, and a Foundry test suite with fuzz and invariant tests, all deployed to testnet. The key investor message: moving to Stellar is a chain-integration swap on a working product, not a from-scratch build. That massively lowers execution risk. If pressed on current state: yes, it runs on an EVM testnet today; the Soroban migration is scoped in issue #177 and the ecosystem plan in #179.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ecosystem-impact slide — the reason a Stellar audience should care. Four levers: (1) stablecoin volume — every contribution and payout is USDC settlement; (2) wallet activations — passkey onboarding creates net-new Stellar accounts from non-crypto backers; (3) real-world impact/TVL — we convert remittance and diaspora-giving flows into onchain activity; (4) new category — accountable, milestone-gated crowdfunding doesn't exist on Stellar yet. Close on the SCF angle: this maps exactly to SCF 7.0's 'real on-chain impact' thesis, Build Award up to $150K XLM. All figures and the SCF program detail come from the issue #179 research report. Flag that SCF cadence/amounts are cited there with verify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'we compose Stellar, we don't reinvent it' slide. Walk top to bottom: core contracts on Soroban using the SEP-41 token interface so USDC is native; position NFTs on the SEP-50 standard with OpenZeppelin's audited modules; anchors (the SEP-24 family) give us a hosted fiat on/off-ramp so we never touch KYC; SEP-31 plus Coins.ph gives a live Philippine peso ramp; passkeys plus Launchtube deliver seedless, gasless onboarding for non-crypto backers; path payments let a backer pay any asset while the escrow always ends up in USDC; Mercury/Goldsky replace our hand-rolled indexer; and the Stellar Disbursement Platform lets us pay many local recipients at milestone release. Every row has a concrete use-case and reference URL in issue #179. Message: minimal net-new trusted code, maximum ecosystem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 level 1 — the beachhead. The Philippines is deliberately first: it's where stablecoin fluency, $30B+ remittances, and underserved SMEs overlap. Wedge is diaspora/OFW-funded community and SME projects, with a peso on-ramp through Coins.ph and passkey onboarding so a non-crypto tita can back a project in pesos in under a minute. Channels: local creator communities, cooperatives, LGUs, and the active Stellar PH developer/hackathon scene. Proof goals are concrete and measurable — first ~25 verified orgs, a funded milestone cohort, and hard numbers (USDC settled, wallets activated, pass-rate) that both prove the model and become the SCF application and the springboard to APAC.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 level 2 — regional replication. The insight: the PH launch produces a repeatable corridor playbook. Each new APAC market (Vietnam, Indonesia, India — all high-remittance, high-adoption) is mostly a matter of plugging in that country's local SEP-24 anchor for its fiat currency; the product, contracts, and UX are unchanged. EURC, PYUSD and local stablecoins widen backer denomination choices, and SEP-31 opens cross-border SME financing between anchors. The green card is the strategic point for investors: expansion cost is an anchor integration, not a new payments stack — Stellar's global anchor network is our distribution moat. This is what makes the model scale capital-efficiently.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GTM level 3 — the global vision. Once the corridor model is proven, Ember becomes the accountable-capital layer for Stellar worldwide, across four expansion vectors: (1) public goods via quadratic-funding matching pools — which don't exist natively on Stellar yet, so it's a fundable, novel primitive; (2) real-world-asset and impact funding — disaster relief, agri/SME finance, infrastructure — with payouts through the Disbursement Platform; (3) recurring/subscription pledges enabled by passkey smart wallets; (4) the position NFT as a reusable, portable proof-of-contribution primitive with reputation. Frame this as optionality on top of a proven base — not promises we need funded today. Each is sourced in issue #179.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is incentive-aligned: a small fee taken only on milestone release, so Ember earns only when creators deliver and backers are satisfied. Secondary line: FX/ramp spread on anchor on/off-ramps. Stress the compliance posture — no token, no token sale, no custody; pledges are utility. Stellar makes the unit economics work: sub-cent fees mean cost-to-serve is near-zero, so a $50 pledge is as viable as a $50k one, and fiat ramps expand the top of funnel to non-crypto backers. If asked about take-rate, keep it directional (low single-digit %), tiered lower for verified nonprofits/impact.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competitive matrix. Web2 platforms fail every column. Banks/escrow hold funds but are custodial, offline, and closed. Generic crypto crowdfunding is non-custodial but usually sells a token at TGE with no milestone gating (the warning marks). Ember is the only row green across the board — and note the new fifth column versus the old deck: native fiat ramps via Stellar anchors. That column is only checkable because we're on Stellar; it's the differentiator that reaches mainstream, non-crypto backers. Deliver the bottom line: the combination is the moat, not any single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the plan and show it's already in motion. Now: the product is built and both the migration (issue #177) and the ecosystem plan (issue #179) are written and scoped. Next: Soroban contracts and SEP-50 NFTs on testnet, passkey onboarding with the Coins.ph peso ramp, mainnet, and the SCF 7.0 application. Later: APAC anchor corridors, quadratic funding and recurring pledges, and the Disbursement Platform / RWA rails. The throughline: near-term milestones are concrete and low-risk because the product exists; the later items are upside. This is a fundable, sequenced plan, not a wish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tagline and the dual message: accountable crowdfunding for creators AND measurable impact for the Stellar ecosystem — stablecoin volume, wallet activations, a new category. Point to issues #177 and #179 as the full written strategy and reference material. Then open the floor. Likely Q&amp;A: current chain state (EVM testnet, migrating), why USDC over USDT (native on Stellar), SCF timing/amount (cite #179 with its verify caveats), and regulatory posture (non-custodial, no token, KYC offloaded to anchors).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-2926080"/>
            <a:ext cx="8229600" cy="6400800"/>
          </a:xfrm>
          <a:prstGeom prst="ellipse">
            <a:avLst/>
          </a:prstGeom>
          <a:solidFill>
            <a:srgbClr val="2A0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8B7B2"/>
                </a:solidFill>
                <a:latin typeface="Inter"/>
              </a:rPr>
              <a:t>MILESTONE-BASED ONCHAIN CROWDFUNDING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173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200" b="1" i="0">
                <a:solidFill>
                  <a:srgbClr val="FFFFFF"/>
                </a:solidFill>
                <a:latin typeface="Inter"/>
              </a:rPr>
              <a:t>Ember</a:t>
            </a:r>
            <a:r>
              <a:rPr sz="8200" b="1" i="0">
                <a:solidFill>
                  <a:srgbClr val="FF5733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817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FD9D0"/>
                </a:solidFill>
                <a:latin typeface="Inter"/>
              </a:rPr>
              <a:t>Fund the future, one milestone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8B7B2"/>
                </a:solidFill>
                <a:latin typeface="Inter"/>
              </a:rPr>
              <a:t>Trust-minimized crowdfunding · Migrating to </a:t>
            </a:r>
            <a:r>
              <a:rPr sz="1700" b="1" i="0">
                <a:solidFill>
                  <a:srgbClr val="FF5733"/>
                </a:solidFill>
                <a:latin typeface="Inter"/>
              </a:rPr>
              <a:t>Stellar / Soroban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PITCH DECK v3 — STELLAR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C7A75"/>
                </a:solidFill>
                <a:latin typeface="Inter"/>
              </a:rPr>
              <a:t>Ember · 2026 · references GitHub issue #179 (Stellar ecosystem strategy)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Crowdfunding is broken — and backers pay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191C1D"/>
                </a:solidFill>
                <a:latin typeface="Inter"/>
              </a:rPr>
              <a:t>Platforms like Kickstarter hand creators </a:t>
            </a:r>
            <a:r>
              <a:rPr sz="2100" b="1" i="0">
                <a:solidFill>
                  <a:srgbClr val="B72301"/>
                </a:solidFill>
                <a:latin typeface="Inter"/>
              </a:rPr>
              <a:t>100% of the funds upfront</a:t>
            </a:r>
            <a:r>
              <a:rPr sz="2100" b="0" i="0">
                <a:solidFill>
                  <a:srgbClr val="191C1D"/>
                </a:solidFill>
                <a:latin typeface="Inter"/>
              </a:rPr>
              <a:t> — before a single promise is kept. When a project stalls, </a:t>
            </a:r>
            <a:r>
              <a:rPr sz="2100" b="1" i="0">
                <a:solidFill>
                  <a:srgbClr val="B72301"/>
                </a:solidFill>
                <a:latin typeface="Inter"/>
              </a:rPr>
              <a:t>the backer eats the loss.</a:t>
            </a:r>
            <a:r>
              <a:rPr sz="2100" b="0" i="0">
                <a:solidFill>
                  <a:srgbClr val="191C1D"/>
                </a:solidFill>
                <a:latin typeface="Inter"/>
              </a:rPr>
              <a:t> No recourse, no refund, no leverage.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525780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1C1D"/>
                </a:solidFill>
                <a:latin typeface="Inter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Funds released on day one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Trust sits with a platform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Disputes settled by support tickets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High fees on every transaction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200400"/>
            <a:ext cx="525780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34747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72301"/>
                </a:solidFill>
                <a:latin typeface="Inter"/>
              </a:rPr>
              <a:t>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4069080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Broken promises, no accountability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Capital locked away from those who need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Worst in emerging markets that need it most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No portable, verifiable proof of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WHY HERE,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In Southeast Asia, the gap is widest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The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Philippines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is among the world's leaders in crypto-wallet adoption.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Millions already hold and move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stablecoins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for remittances and savings.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A fast-growing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creator economy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and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SME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base — underserved by banks.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$30B+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in annual remittances flow into the country every year.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Small businesses lack the escrow, controls, and capital access big institutions take for granted.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783080"/>
            <a:ext cx="4507992" cy="3383280"/>
          </a:xfrm>
          <a:prstGeom prst="roundRect">
            <a:avLst>
              <a:gd name="adj" fmla="val 10000"/>
            </a:avLst>
          </a:prstGeom>
          <a:solidFill>
            <a:srgbClr val="B72301"/>
          </a:solidFill>
          <a:ln w="12700">
            <a:solidFill>
              <a:srgbClr val="B72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2148840"/>
            <a:ext cx="377647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The infrastructure to fix this already exists onchain.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3977639"/>
            <a:ext cx="37764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FFD9D0"/>
                </a:solidFill>
                <a:latin typeface="Inter"/>
              </a:rPr>
              <a:t>What's missing is a product that puts it in the hands of everyday creators and small businesses — and a chain built for stablecoin payments.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8173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Inter"/>
              </a:rPr>
              <a:t>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2900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D9D0"/>
                </a:solidFill>
                <a:latin typeface="Inter"/>
              </a:rPr>
              <a:t>Onchain crowdfunding where funds release </a:t>
            </a:r>
            <a:r>
              <a:rPr sz="2600" b="1" i="0">
                <a:solidFill>
                  <a:srgbClr val="FFFFFF"/>
                </a:solidFill>
                <a:latin typeface="Inter"/>
              </a:rPr>
              <a:t>as creators deliver — not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What Ember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91C1D"/>
                </a:solidFill>
                <a:latin typeface="Inter"/>
              </a:rPr>
              <a:t>Backers contribute a </a:t>
            </a:r>
            <a:r>
              <a:rPr sz="2000" b="1" i="0">
                <a:solidFill>
                  <a:srgbClr val="B72301"/>
                </a:solidFill>
                <a:latin typeface="Inter"/>
              </a:rPr>
              <a:t>stablecoin</a:t>
            </a:r>
            <a:r>
              <a:rPr sz="2000" b="0" i="0">
                <a:solidFill>
                  <a:srgbClr val="191C1D"/>
                </a:solidFill>
                <a:latin typeface="Inter"/>
              </a:rPr>
              <a:t> into a project's own </a:t>
            </a:r>
            <a:r>
              <a:rPr sz="2000" b="1" i="0">
                <a:solidFill>
                  <a:srgbClr val="B72301"/>
                </a:solidFill>
                <a:latin typeface="Inter"/>
              </a:rPr>
              <a:t>escrow smart contract</a:t>
            </a:r>
            <a:r>
              <a:rPr sz="2000" b="0" i="0">
                <a:solidFill>
                  <a:srgbClr val="191C1D"/>
                </a:solidFill>
                <a:latin typeface="Inter"/>
              </a:rPr>
              <a:t> and receive a </a:t>
            </a:r>
            <a:r>
              <a:rPr sz="2000" b="1" i="0">
                <a:solidFill>
                  <a:srgbClr val="B72301"/>
                </a:solidFill>
                <a:latin typeface="Inter"/>
              </a:rPr>
              <a:t>position NFT</a:t>
            </a:r>
            <a:r>
              <a:rPr sz="2000" b="0" i="0">
                <a:solidFill>
                  <a:srgbClr val="191C1D"/>
                </a:solidFill>
                <a:latin typeface="Inter"/>
              </a:rPr>
              <a:t> as proof of stake. Funds release to the creator </a:t>
            </a:r>
            <a:r>
              <a:rPr sz="2000" b="1" i="0">
                <a:solidFill>
                  <a:srgbClr val="B72301"/>
                </a:solidFill>
                <a:latin typeface="Inter"/>
              </a:rPr>
              <a:t>only when backers vote to approve each milestone.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3447288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3538728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Trust-first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114800"/>
            <a:ext cx="28620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91C1D"/>
                </a:solidFill>
                <a:latin typeface="Inter"/>
              </a:rPr>
              <a:t>Cryptographic guarantees, not platform promises. Non-custodial — Ember never holds your funds.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246120"/>
            <a:ext cx="3447288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538728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Algorithmic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14800"/>
            <a:ext cx="28620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91C1D"/>
                </a:solidFill>
                <a:latin typeface="Inter"/>
              </a:rPr>
              <a:t>Code decides fund release. No human discretion, no customer-service-as-justice.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3246120"/>
            <a:ext cx="3447288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3538728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Stablecoin-native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4114800"/>
            <a:ext cx="28620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91C1D"/>
                </a:solidFill>
                <a:latin typeface="Inter"/>
              </a:rPr>
              <a:t>USDC on Stellar. No volatile tokens on a pledge. Sub-cent fees, ~5s settlement.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FOUR STEPS, FULLY ONCHAIN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17352" cy="502920"/>
          </a:xfrm>
          <a:prstGeom prst="roundRect">
            <a:avLst>
              <a:gd name="adj" fmla="val 30000"/>
            </a:avLst>
          </a:prstGeom>
          <a:solidFill>
            <a:srgbClr val="EDEEEF"/>
          </a:solidFill>
          <a:ln w="12700">
            <a:solidFill>
              <a:srgbClr val="EDE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91C1D"/>
                </a:solidFill>
                <a:latin typeface="Inter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88366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91C1D"/>
                </a:solidFill>
                <a:latin typeface="Inter"/>
              </a:rPr>
              <a:t>What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83664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91C1D"/>
                </a:solidFill>
                <a:latin typeface="Inter"/>
              </a:rPr>
              <a:t>Onchain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72301"/>
                </a:solidFill>
                <a:latin typeface="Inter"/>
              </a:rPr>
              <a:t>1 ·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96312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A verified org publishes a project with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96312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403A"/>
                </a:solidFill>
                <a:latin typeface="JetBrains Mono"/>
              </a:rPr>
              <a:t>Factory deploys a dedicated escrow + position NFT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81731"/>
            <a:ext cx="10817352" cy="9525"/>
          </a:xfrm>
          <a:prstGeom prst="rect">
            <a:avLst/>
          </a:prstGeom>
          <a:solidFill>
            <a:srgbClr val="E1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72301"/>
                </a:solidFill>
                <a:latin typeface="Inter"/>
              </a:rPr>
              <a:t>2 ·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375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Backers contribute stablecoin, mint a position NFT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403A"/>
                </a:solidFill>
                <a:latin typeface="JetBrains Mono"/>
              </a:rPr>
              <a:t>Escrow.contribute() — funds held onchain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022979"/>
            <a:ext cx="10817352" cy="9525"/>
          </a:xfrm>
          <a:prstGeom prst="rect">
            <a:avLst/>
          </a:prstGeom>
          <a:solidFill>
            <a:srgbClr val="E1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7880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72301"/>
                </a:solidFill>
                <a:latin typeface="Inter"/>
              </a:rPr>
              <a:t>3 · 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17880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Each milestone is approved by weighted backer vote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178808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403A"/>
                </a:solidFill>
                <a:latin typeface="JetBrains Mono"/>
              </a:rPr>
              <a:t>vote() → resolveMilestone()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64227"/>
            <a:ext cx="10817352" cy="9525"/>
          </a:xfrm>
          <a:prstGeom prst="rect">
            <a:avLst/>
          </a:prstGeom>
          <a:solidFill>
            <a:srgbClr val="E1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0056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72301"/>
                </a:solidFill>
                <a:latin typeface="Inter"/>
              </a:rPr>
              <a:t>4 ·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020056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Funds release only for passed milestones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020056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403A"/>
                </a:solidFill>
                <a:latin typeface="JetBrains Mono"/>
              </a:rPr>
              <a:t>claimMilestone() → USDC to creator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705475"/>
            <a:ext cx="10817352" cy="9525"/>
          </a:xfrm>
          <a:prstGeom prst="rect">
            <a:avLst/>
          </a:prstGeom>
          <a:solidFill>
            <a:srgbClr val="E1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91C1D"/>
                </a:solidFill>
                <a:latin typeface="Inter"/>
              </a:rPr>
              <a:t>A permissionless </a:t>
            </a:r>
            <a:r>
              <a:rPr sz="1700" b="1" i="0">
                <a:solidFill>
                  <a:srgbClr val="B72301"/>
                </a:solidFill>
                <a:latin typeface="Inter"/>
              </a:rPr>
              <a:t>keeper</a:t>
            </a:r>
            <a:r>
              <a:rPr sz="1700" b="0" i="0">
                <a:solidFill>
                  <a:srgbClr val="191C1D"/>
                </a:solidFill>
                <a:latin typeface="Inter"/>
              </a:rPr>
              <a:t> resolves milestones when the voting window closes — no one can stall a payout.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A working product, not a whitepaper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6035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</a:t>
            </a:r>
            <a:r>
              <a:rPr sz="1800" b="1" i="0">
                <a:solidFill>
                  <a:srgbClr val="B72301"/>
                </a:solidFill>
                <a:latin typeface="Inter"/>
              </a:rPr>
              <a:t>Feature-complete</a:t>
            </a:r>
            <a:r>
              <a:rPr sz="1800" b="0" i="0">
                <a:solidFill>
                  <a:srgbClr val="191C1D"/>
                </a:solidFill>
                <a:latin typeface="Inter"/>
              </a:rPr>
              <a:t> against the full product spec — end to end.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Create → publish → back → vote → release, fully onchain.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Backer &amp; org </a:t>
            </a:r>
            <a:r>
              <a:rPr sz="1800" b="1" i="0">
                <a:solidFill>
                  <a:srgbClr val="B72301"/>
                </a:solidFill>
                <a:latin typeface="Inter"/>
              </a:rPr>
              <a:t>dashboards</a:t>
            </a:r>
            <a:r>
              <a:rPr sz="1800" b="0" i="0">
                <a:solidFill>
                  <a:srgbClr val="191C1D"/>
                </a:solidFill>
                <a:latin typeface="Inter"/>
              </a:rPr>
              <a:t>, in-app + email notifications.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</a:t>
            </a:r>
            <a:r>
              <a:rPr sz="1800" b="1" i="0">
                <a:solidFill>
                  <a:srgbClr val="B72301"/>
                </a:solidFill>
                <a:latin typeface="Inter"/>
              </a:rPr>
              <a:t>Admin panel</a:t>
            </a:r>
            <a:r>
              <a:rPr sz="1800" b="0" i="0">
                <a:solidFill>
                  <a:srgbClr val="191C1D"/>
                </a:solidFill>
                <a:latin typeface="Inter"/>
              </a:rPr>
              <a:t>: org verification, audit logs, reports.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Standalone </a:t>
            </a:r>
            <a:r>
              <a:rPr sz="1800" b="1" i="0">
                <a:solidFill>
                  <a:srgbClr val="B72301"/>
                </a:solidFill>
                <a:latin typeface="Inter"/>
              </a:rPr>
              <a:t>event indexer</a:t>
            </a:r>
            <a:r>
              <a:rPr sz="1800" b="0" i="0">
                <a:solidFill>
                  <a:srgbClr val="191C1D"/>
                </a:solidFill>
                <a:latin typeface="Inter"/>
              </a:rPr>
              <a:t>, permissionless keeper, immutable contracts.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•  Foundry test suite: unit, fuzz &amp; invariant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83080"/>
            <a:ext cx="4462272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60920" y="210312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C8F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200" b="1" i="0">
                <a:solidFill>
                  <a:srgbClr val="003120"/>
                </a:solidFill>
                <a:latin typeface="Inter"/>
              </a:rPr>
              <a:t>BUILT ON EVM TESTNET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697480"/>
            <a:ext cx="382219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91C1D"/>
                </a:solidFill>
                <a:latin typeface="Inter"/>
              </a:rPr>
              <a:t>The hard part is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611880"/>
            <a:ext cx="38221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Web app, indexer, and immutable contracts run together as one system. </a:t>
            </a:r>
            <a:r>
              <a:rPr sz="1650" b="1" i="0">
                <a:solidFill>
                  <a:srgbClr val="B72301"/>
                </a:solidFill>
                <a:latin typeface="Inter"/>
              </a:rPr>
              <a:t>Stellar is a chain swap on a proven product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— not a rebuild.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WHY STELLAR — AND WHAT WE BRING TO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Impact on the Stellar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173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Ember is an engine for the metrics Stellar cares about most — turning real-world giving and SME capital into onchain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261518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78892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B72301"/>
                </a:solidFill>
                <a:latin typeface="Inter"/>
              </a:rPr>
              <a:t>Stablecoin
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8404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Every contribution &amp; milestone payout settles in USDC onchain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514600"/>
            <a:ext cx="261518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4" y="278892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06C4B"/>
                </a:solidFill>
                <a:latin typeface="Inter"/>
              </a:rPr>
              <a:t>Wallet
activations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4" y="38404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Each passkey onboard = a net-new activated Stellar wallet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514600"/>
            <a:ext cx="261518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78892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B72301"/>
                </a:solidFill>
                <a:latin typeface="Inter"/>
              </a:rPr>
              <a:t>Real-world
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8404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Remittance &amp; diaspora-giving flows become measurable TVL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2514600"/>
            <a:ext cx="2615184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78892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06C4B"/>
                </a:solidFill>
                <a:latin typeface="Inter"/>
              </a:rPr>
              <a:t>New
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8404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Accountable milestone crowdfunding Stellar doesn't yet have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120640"/>
            <a:ext cx="10817352" cy="1051560"/>
          </a:xfrm>
          <a:prstGeom prst="roundRect">
            <a:avLst>
              <a:gd name="adj" fmla="val 10000"/>
            </a:avLst>
          </a:prstGeom>
          <a:solidFill>
            <a:srgbClr val="FFDAD3"/>
          </a:solidFill>
          <a:ln w="12700">
            <a:solidFill>
              <a:srgbClr val="E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21808"/>
            <a:ext cx="10085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8C1800"/>
                </a:solidFill>
                <a:latin typeface="Inter"/>
              </a:rPr>
              <a:t>A strong </a:t>
            </a:r>
            <a:r>
              <a:rPr sz="1700" b="1" i="0">
                <a:solidFill>
                  <a:srgbClr val="B72301"/>
                </a:solidFill>
                <a:latin typeface="Inter"/>
              </a:rPr>
              <a:t>Stellar Community Fund</a:t>
            </a:r>
            <a:r>
              <a:rPr sz="1700" b="0" i="0">
                <a:solidFill>
                  <a:srgbClr val="8C1800"/>
                </a:solidFill>
                <a:latin typeface="Inter"/>
              </a:rPr>
              <a:t> candidate: a Soroban dApp driving stablecoin settlement, wallet growth, and a real “on-chain impact” use case — precisely SCF 7.0's thesis (Build Award up to $150K XLM).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PLANS TO INTEGRATE EXISTING ECOSYSTEM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Built on Stellar's rails — not around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10817352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92808"/>
            <a:ext cx="118872" cy="118872"/>
          </a:xfrm>
          <a:prstGeom prst="ellipse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Soroban + SEP-41 / SAC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01368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Rewrite escrow, voting &amp; milestone logic; hold USDC natively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27732"/>
            <a:ext cx="118872" cy="118872"/>
          </a:xfrm>
          <a:prstGeom prst="ellipse">
            <a:avLst/>
          </a:prstGeom>
          <a:solidFill>
            <a:srgbClr val="006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62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SEP-50 + OpenZeppelin NFT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336292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Audited position NFTs (ERC-721-like) for backers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61488"/>
            <a:ext cx="10817352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962656"/>
            <a:ext cx="118872" cy="118872"/>
          </a:xfrm>
          <a:prstGeom prst="ellipse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7121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Anchors — SEP-24 / 6 / 10 / 12 /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871216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Hosted fiat ↔ USDC on/off-ramp, auth, KYC &amp; quotes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97580"/>
            <a:ext cx="118872" cy="118872"/>
          </a:xfrm>
          <a:prstGeom prst="ellipse">
            <a:avLst/>
          </a:prstGeom>
          <a:solidFill>
            <a:srgbClr val="006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4061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SEP-31 + Coins.ph (PH anchor)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406140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Cross-border payouts &amp; a live PHP ramp for OFW backers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31336"/>
            <a:ext cx="10817352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032504"/>
            <a:ext cx="118872" cy="118872"/>
          </a:xfrm>
          <a:prstGeom prst="ellipse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94106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Passkeys — passkey-kit + Launchtube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941064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Seedless smart-wallet onboarding + sponsored (gasless) fees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567428"/>
            <a:ext cx="118872" cy="118872"/>
          </a:xfrm>
          <a:prstGeom prst="ellipse">
            <a:avLst/>
          </a:prstGeom>
          <a:solidFill>
            <a:srgbClr val="006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4759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Path payments / SDEX / Soroswap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475988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Backer pays any asset; escrow always accumulates USDC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01184"/>
            <a:ext cx="10817352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102352"/>
            <a:ext cx="118872" cy="118872"/>
          </a:xfrm>
          <a:prstGeom prst="ellipse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01091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Mercury / Goldsky + Stellar RPC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010912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Replace our custom indexer with native data infra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5637276"/>
            <a:ext cx="118872" cy="118872"/>
          </a:xfrm>
          <a:prstGeom prst="ellipse">
            <a:avLst/>
          </a:prstGeom>
          <a:solidFill>
            <a:srgbClr val="006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4583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91C1D"/>
                </a:solidFill>
                <a:latin typeface="JetBrains Mono"/>
              </a:rPr>
              <a:t>Stellar Disbursement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5545836"/>
            <a:ext cx="5696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403A"/>
                </a:solidFill>
                <a:latin typeface="Inter"/>
              </a:rPr>
              <a:t>Bulk milestone payouts to many local recipients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053328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403A"/>
                </a:solidFill>
                <a:latin typeface="Inter"/>
              </a:rPr>
              <a:t>Full integration matrix, use-cases &amp; reference links: </a:t>
            </a:r>
            <a:r>
              <a:rPr sz="1350" b="1" i="0">
                <a:solidFill>
                  <a:srgbClr val="B72301"/>
                </a:solidFill>
                <a:latin typeface="Inter"/>
              </a:rPr>
              <a:t>GitHub issue #179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GO-TO-MARKET ·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Philippines — win the 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Land where stablecoin fluency, remittances, and underserved SMEs converge.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447288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40280"/>
            <a:ext cx="3447288" cy="109728"/>
          </a:xfrm>
          <a:prstGeom prst="rect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91C1D"/>
                </a:solidFill>
                <a:latin typeface="Inter"/>
              </a:rPr>
              <a:t>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289864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Diaspora &amp; OFW-funded community projects and SME raises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Fiat-peso on-ramp via Coins.ph (SEP-24) — back in pesos, settle USDC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Passkey onboarding: no seed phrase, no crypto experience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240280"/>
            <a:ext cx="3447288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240280"/>
            <a:ext cx="3447288" cy="109728"/>
          </a:xfrm>
          <a:prstGeom prst="rect">
            <a:avLst/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560320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91C1D"/>
                </a:solidFill>
                <a:latin typeface="Inter"/>
              </a:rPr>
              <a:t>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154680"/>
            <a:ext cx="289864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Partner with local creator communities, cooperatives &amp; LGUs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Stellar PH developer &amp; hackathon community (Stellar Rise PH)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Crypto-native fintech partners (Coins.ph) for distribution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240280"/>
            <a:ext cx="3447288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2240280"/>
            <a:ext cx="3447288" cy="109728"/>
          </a:xfrm>
          <a:prstGeom prst="rect">
            <a:avLst/>
          </a:prstGeom>
          <a:solidFill>
            <a:srgbClr val="006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560320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91C1D"/>
                </a:solidFill>
                <a:latin typeface="Inter"/>
              </a:rPr>
              <a:t>Proof goals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3154680"/>
            <a:ext cx="289864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First 25 verified orgs + funded milestone cohort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Measured: USDC settled, wallets activated, milestone pass-rate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•  Case studies to anchor SCF application &amp; APAC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GO-TO-MARKET · LEVEL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APAC — replicate the corridor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The Philippine playbook is a </a:t>
            </a:r>
            <a:r>
              <a:rPr sz="1800" b="1" i="0">
                <a:solidFill>
                  <a:srgbClr val="B72301"/>
                </a:solidFill>
                <a:latin typeface="Inter"/>
              </a:rPr>
              <a:t>template</a:t>
            </a:r>
            <a:r>
              <a:rPr sz="1800" b="0" i="0">
                <a:solidFill>
                  <a:srgbClr val="191C1D"/>
                </a:solidFill>
                <a:latin typeface="Inter"/>
              </a:rPr>
              <a:t>, not a one-off: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•  Expand to high-remittance, high-adoption corridors: </a:t>
            </a:r>
            <a:r>
              <a:rPr sz="1650" b="1" i="0">
                <a:solidFill>
                  <a:srgbClr val="B72301"/>
                </a:solidFill>
                <a:latin typeface="Inter"/>
              </a:rPr>
              <a:t>Vietnam, Indonesia, India</a:t>
            </a:r>
            <a:r>
              <a:rPr sz="1650" b="0" i="0">
                <a:solidFill>
                  <a:srgbClr val="191C1D"/>
                </a:solidFill>
                <a:latin typeface="Inter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•  Each market = plug in a local </a:t>
            </a:r>
            <a:r>
              <a:rPr sz="1650" b="1" i="0">
                <a:solidFill>
                  <a:srgbClr val="B72301"/>
                </a:solidFill>
                <a:latin typeface="Inter"/>
              </a:rPr>
              <a:t>SEP-24 anchor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for its fiat currency.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•  </a:t>
            </a:r>
            <a:r>
              <a:rPr sz="1650" b="1" i="0">
                <a:solidFill>
                  <a:srgbClr val="B72301"/>
                </a:solidFill>
                <a:latin typeface="Inter"/>
              </a:rPr>
              <a:t>EURC / PYUSD / local stablecoins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widen denomination options for backers.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•  Cross-border SME financing via </a:t>
            </a:r>
            <a:r>
              <a:rPr sz="1650" b="1" i="0">
                <a:solidFill>
                  <a:srgbClr val="B72301"/>
                </a:solidFill>
                <a:latin typeface="Inter"/>
              </a:rPr>
              <a:t>SEP-31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corridors between anchors.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•  Localized language, curation &amp; compliance per 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737360"/>
            <a:ext cx="4370832" cy="3931920"/>
          </a:xfrm>
          <a:prstGeom prst="roundRect">
            <a:avLst>
              <a:gd name="adj" fmla="val 10000"/>
            </a:avLst>
          </a:prstGeom>
          <a:solidFill>
            <a:srgbClr val="006C4B"/>
          </a:solidFill>
          <a:ln w="12700">
            <a:solidFill>
              <a:srgbClr val="006C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2057400"/>
            <a:ext cx="36758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One integration, many markets.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3200400"/>
            <a:ext cx="367588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6FFF6"/>
                </a:solidFill>
                <a:latin typeface="Inter"/>
              </a:rPr>
              <a:t>Because every market rides the same Stellar rails, expansion cost is an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anchor integration — not a new payments stack.</a:t>
            </a:r>
            <a:r>
              <a:rPr sz="1600" b="0" i="0">
                <a:solidFill>
                  <a:srgbClr val="E6FFF6"/>
                </a:solidFill>
                <a:latin typeface="Inter"/>
              </a:rPr>
              <a:t> Stellar's global anchor network is the distribution moat.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GO-TO-MARKET · 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Global — the accountable-capital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91C1D"/>
                </a:solidFill>
                <a:latin typeface="Inter"/>
              </a:rPr>
              <a:t>From remittance corridors to a worldwide standard for milestone-gated funding.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285232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23744"/>
            <a:ext cx="4700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B72301"/>
                </a:solidFill>
                <a:latin typeface="Inter"/>
              </a:rPr>
              <a:t>Public goods &amp; QF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99232"/>
            <a:ext cx="4700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Quadratic-funding matching pools on Soroban for open-source &amp; community goods — a novel Stellar primitive.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285232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523744"/>
            <a:ext cx="4700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006C4B"/>
                </a:solidFill>
                <a:latin typeface="Inter"/>
              </a:rPr>
              <a:t>RWA &amp; impact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999232"/>
            <a:ext cx="4700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Disaster relief, agri/SME finance, local infrastructure — payouts via the Disbursement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87368"/>
            <a:ext cx="5285232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325112"/>
            <a:ext cx="4700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B72301"/>
                </a:solidFill>
                <a:latin typeface="Inter"/>
              </a:rPr>
              <a:t>Recurring &amp;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800600"/>
            <a:ext cx="4700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Passkey smart wallets enable monthly pledges — smoothing volume, raising lifetime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87368"/>
            <a:ext cx="5285232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325112"/>
            <a:ext cx="4700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006C4B"/>
                </a:solidFill>
                <a:latin typeface="Inter"/>
              </a:rPr>
              <a:t>Position-NFT primitive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800600"/>
            <a:ext cx="4700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91C1D"/>
                </a:solidFill>
                <a:latin typeface="Inter"/>
              </a:rPr>
              <a:t>Portable proof-of-contribution with reputation &amp; provenance — a reusable ecosystem building block.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How Ember makes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6035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A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small platform fee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on each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milestone release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— we earn only when creators actually deliver.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Revenue is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aligned with backers</a:t>
            </a:r>
            <a:r>
              <a:rPr sz="1900" b="0" i="0">
                <a:solidFill>
                  <a:srgbClr val="191C1D"/>
                </a:solidFill>
                <a:latin typeface="Inter"/>
              </a:rPr>
              <a:t>: no delivery, no fee.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Optional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fiat-ramp &amp; FX spread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on anchor-powered on/off-ramps.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91C1D"/>
                </a:solidFill>
                <a:latin typeface="Inter"/>
              </a:rPr>
              <a:t>•  </a:t>
            </a:r>
            <a:r>
              <a:rPr sz="1900" b="1" i="0">
                <a:solidFill>
                  <a:srgbClr val="B72301"/>
                </a:solidFill>
                <a:latin typeface="Inter"/>
              </a:rPr>
              <a:t>No token. No sale. No custody.</a:t>
            </a:r>
            <a:r>
              <a:rPr sz="1900" b="0" i="0">
                <a:solidFill>
                  <a:srgbClr val="191C1D"/>
                </a:solidFill>
                <a:latin typeface="Inter"/>
              </a:rPr>
              <a:t> Pledges are utility, not securities.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83080"/>
            <a:ext cx="4462272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2103120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Why it 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697480"/>
            <a:ext cx="382219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191C1D"/>
                </a:solidFill>
                <a:latin typeface="Inter"/>
              </a:rPr>
              <a:t>Every project deploys its own escrow, and Stellar's </a:t>
            </a:r>
            <a:r>
              <a:rPr sz="1650" b="1" i="0">
                <a:solidFill>
                  <a:srgbClr val="B72301"/>
                </a:solidFill>
                <a:latin typeface="Inter"/>
              </a:rPr>
              <a:t>sub-cent fees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mean cost-to-serve is near-zero. The model works at a </a:t>
            </a:r>
            <a:r>
              <a:rPr sz="1650" b="1" i="0">
                <a:solidFill>
                  <a:srgbClr val="191C1D"/>
                </a:solidFill>
                <a:latin typeface="Inter"/>
              </a:rPr>
              <a:t>$50 pledge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as well as a </a:t>
            </a:r>
            <a:r>
              <a:rPr sz="1650" b="1" i="0">
                <a:solidFill>
                  <a:srgbClr val="191C1D"/>
                </a:solidFill>
                <a:latin typeface="Inter"/>
              </a:rPr>
              <a:t>$50,000</a:t>
            </a:r>
            <a:r>
              <a:rPr sz="1650" b="0" i="0">
                <a:solidFill>
                  <a:srgbClr val="191C1D"/>
                </a:solidFill>
                <a:latin typeface="Inter"/>
              </a:rPr>
              <a:t> one — and fiat ramps unlock backers who never held crypto.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Why Ember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403A"/>
                </a:solidFill>
                <a:latin typeface="Inte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783080"/>
            <a:ext cx="143195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403A"/>
                </a:solidFill>
                <a:latin typeface="Inter"/>
              </a:rPr>
              <a:t>Funds held
until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5350" y="1783080"/>
            <a:ext cx="143195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403A"/>
                </a:solidFill>
                <a:latin typeface="Inter"/>
              </a:rPr>
              <a:t>Non-
custodial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7300" y="1783080"/>
            <a:ext cx="143195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403A"/>
                </a:solidFill>
                <a:latin typeface="Inter"/>
              </a:rPr>
              <a:t>Onchain
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250" y="1783080"/>
            <a:ext cx="143195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403A"/>
                </a:solidFill>
                <a:latin typeface="Inter"/>
              </a:rPr>
              <a:t>Stablecoin
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1200" y="1783080"/>
            <a:ext cx="143195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B403A"/>
                </a:solidFill>
                <a:latin typeface="Inter"/>
              </a:rPr>
              <a:t>Fiat ramp
(anchors)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3657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Kickstarter / GoGetFunding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5350" y="2514600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7300" y="2514600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250" y="2514600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1200" y="2514600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00984"/>
            <a:ext cx="3657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Traditional escrow / banks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00984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5350" y="3300984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7300" y="3300984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250" y="3300984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1200" y="3300984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87368"/>
            <a:ext cx="3657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Generic crypto crowdfunding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087368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B403A"/>
                </a:solidFill>
                <a:latin typeface="Inter"/>
              </a:rP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5350" y="4087368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7300" y="4087368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9250" y="4087368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B403A"/>
                </a:solidFill>
                <a:latin typeface="Inter"/>
              </a:rPr>
              <a:t>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1200" y="4087368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B72301"/>
                </a:solidFill>
                <a:latin typeface="Inter"/>
              </a:rPr>
              <a:t>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28032"/>
            <a:ext cx="10817352" cy="731520"/>
          </a:xfrm>
          <a:prstGeom prst="roundRect">
            <a:avLst>
              <a:gd name="adj" fmla="val 20000"/>
            </a:avLst>
          </a:prstGeom>
          <a:solidFill>
            <a:srgbClr val="FFDAD3"/>
          </a:solidFill>
          <a:ln w="12700">
            <a:solidFill>
              <a:srgbClr val="E4B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73752"/>
            <a:ext cx="3657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B72301"/>
                </a:solidFill>
                <a:latin typeface="Inter"/>
              </a:rPr>
              <a:t>Ember on Stellar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873752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5350" y="4873752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7300" y="4873752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9250" y="4873752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1200" y="4873752"/>
            <a:ext cx="143195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06C4B"/>
                </a:solidFill>
                <a:latin typeface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806440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91C1D"/>
                </a:solidFill>
                <a:latin typeface="Inter"/>
              </a:rPr>
              <a:t>Milestone escrow </a:t>
            </a:r>
            <a:r>
              <a:rPr sz="1600" b="1" i="0">
                <a:solidFill>
                  <a:srgbClr val="B72301"/>
                </a:solidFill>
                <a:latin typeface="Inter"/>
              </a:rPr>
              <a:t>+</a:t>
            </a:r>
            <a:r>
              <a:rPr sz="1600" b="0" i="0">
                <a:solidFill>
                  <a:srgbClr val="191C1D"/>
                </a:solidFill>
                <a:latin typeface="Inter"/>
              </a:rPr>
              <a:t> weighted onchain voting </a:t>
            </a:r>
            <a:r>
              <a:rPr sz="1600" b="1" i="0">
                <a:solidFill>
                  <a:srgbClr val="B72301"/>
                </a:solidFill>
                <a:latin typeface="Inter"/>
              </a:rPr>
              <a:t>+</a:t>
            </a:r>
            <a:r>
              <a:rPr sz="1600" b="0" i="0">
                <a:solidFill>
                  <a:srgbClr val="191C1D"/>
                </a:solidFill>
                <a:latin typeface="Inter"/>
              </a:rPr>
              <a:t> position NFTs </a:t>
            </a:r>
            <a:r>
              <a:rPr sz="1600" b="1" i="0">
                <a:solidFill>
                  <a:srgbClr val="B72301"/>
                </a:solidFill>
                <a:latin typeface="Inter"/>
              </a:rPr>
              <a:t>+</a:t>
            </a:r>
            <a:r>
              <a:rPr sz="1600" b="0" i="0">
                <a:solidFill>
                  <a:srgbClr val="191C1D"/>
                </a:solidFill>
                <a:latin typeface="Inter"/>
              </a:rPr>
              <a:t> native fiat ramps — accountability neither Web2 nor token launchpads offer.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72301"/>
                </a:solidFill>
                <a:latin typeface="Inter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91C1D"/>
                </a:solidFill>
                <a:latin typeface="Inter"/>
              </a:rP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47288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21408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89864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Feature-complete product on EVM testnet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Stellar migration scoped (issue #177)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Ecosystem integration plan (issue #179)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47288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2" y="2121408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B72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834640"/>
            <a:ext cx="289864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Soroban contracts + SEP-50 NFTs on testnet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Passkey onboarding + SEP-24 peso ramp (Coins.ph)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Mainnet launch · apply to SCF 7.0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828800"/>
            <a:ext cx="3447288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30184" y="2121408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006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4" y="2834640"/>
            <a:ext cx="289864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APAC anchor corridors (VN, ID, IN)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Quadratic funding &amp; recurring pledges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 i="0">
                <a:solidFill>
                  <a:srgbClr val="191C1D"/>
                </a:solidFill>
                <a:latin typeface="Inter"/>
              </a:rPr>
              <a:t>•  Disbursement Platform + RWA/impact 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403A"/>
                </a:solidFill>
                <a:latin typeface="Inter"/>
              </a:rPr>
              <a:t>Ember · Fund the future, one milestone at a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3108960"/>
            <a:ext cx="8229600" cy="6400800"/>
          </a:xfrm>
          <a:prstGeom prst="ellipse">
            <a:avLst/>
          </a:prstGeom>
          <a:solidFill>
            <a:srgbClr val="2A0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8B7B2"/>
                </a:solidFill>
                <a:latin typeface="Inter"/>
              </a:rPr>
              <a:t>EMBER · BUILT ON STELLAR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8173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Inter"/>
              </a:rPr>
              <a:t>Fund the future,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Inter"/>
              </a:rPr>
              <a:t>one milestone at a time</a:t>
            </a:r>
            <a:r>
              <a:rPr sz="5800" b="1" i="0">
                <a:solidFill>
                  <a:srgbClr val="FF5733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D9D0"/>
                </a:solidFill>
                <a:latin typeface="Inter"/>
              </a:rPr>
              <a:t>Accountable crowdfunding — and real impact for Stellar.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2920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B7B2"/>
                </a:solidFill>
                <a:latin typeface="Inter"/>
              </a:rPr>
              <a:t>Strategy &amp; references: GitHub issues #177 (migration) · #179 (ecosystem)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6E6E6"/>
                </a:solidFill>
                <a:latin typeface="Inter"/>
              </a:rPr>
              <a:t>Thank you — questions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C7A75"/>
                </a:solidFill>
                <a:latin typeface="Inter"/>
              </a:rPr>
              <a:t>Ember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